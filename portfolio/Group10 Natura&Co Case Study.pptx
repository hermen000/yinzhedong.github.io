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920" r:id="rId3"/>
    <p:sldId id="915" r:id="rId4"/>
    <p:sldId id="916" r:id="rId5"/>
    <p:sldId id="917" r:id="rId6"/>
    <p:sldId id="918" r:id="rId7"/>
    <p:sldId id="922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7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630EA2F-2BDA-42FF-A170-6A89F8E5A7CD}" styleName="表样式 1 23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dk1">
              <a:lumMod val="40000"/>
              <a:lumOff val="60000"/>
              <a:alpha val="25000"/>
            </a:schemeClr>
          </a:solidFill>
        </a:fill>
      </a:tcStyle>
    </a:band2H>
    <a:band1V>
      <a:tcTxStyle/>
      <a:tcStyle>
        <a:tcBdr/>
        <a:fill>
          <a:solidFill>
            <a:schemeClr val="dk1">
              <a:lumMod val="40000"/>
              <a:lumOff val="60000"/>
              <a:alpha val="25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52" y="128"/>
      </p:cViewPr>
      <p:guideLst>
        <p:guide orient="horz" pos="2147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69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TEXTE">
    <p:bg>
      <p:bgPr>
        <a:solidFill>
          <a:srgbClr val="F7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0" hasCustomPrompt="1"/>
          </p:nvPr>
        </p:nvSpPr>
        <p:spPr>
          <a:xfrm>
            <a:off x="526594" y="1141362"/>
            <a:ext cx="11162240" cy="4924486"/>
          </a:xfrm>
        </p:spPr>
        <p:txBody>
          <a:bodyPr/>
          <a:lstStyle>
            <a:lvl1pPr>
              <a:defRPr spc="40" baseline="0"/>
            </a:lvl1pPr>
            <a:lvl2pPr>
              <a:defRPr spc="40" baseline="0"/>
            </a:lvl2pPr>
            <a:lvl3pPr>
              <a:defRPr spc="40" baseline="0"/>
            </a:lvl3pPr>
            <a:lvl4pPr>
              <a:defRPr spc="40" baseline="0"/>
            </a:lvl4pPr>
            <a:lvl5pPr>
              <a:defRPr spc="40" baseline="0"/>
            </a:lvl5pPr>
          </a:lstStyle>
          <a:p>
            <a:pPr lvl="0"/>
            <a:r>
              <a:rPr lang="fr-FR" dirty="0"/>
              <a:t>Cliquez pour modifier les styles du texte du masque</a:t>
            </a:r>
            <a:endParaRPr lang="fr-FR" dirty="0"/>
          </a:p>
          <a:p>
            <a:pPr lvl="1"/>
            <a:r>
              <a:rPr lang="fr-FR" dirty="0"/>
              <a:t>Deuxième niveau</a:t>
            </a:r>
            <a:endParaRPr lang="fr-FR" dirty="0"/>
          </a:p>
          <a:p>
            <a:pPr lvl="2"/>
            <a:r>
              <a:rPr lang="fr-FR" dirty="0"/>
              <a:t>Troisième niveau</a:t>
            </a:r>
            <a:endParaRPr lang="fr-FR" dirty="0"/>
          </a:p>
          <a:p>
            <a:pPr lvl="3"/>
            <a:r>
              <a:rPr lang="fr-FR" dirty="0"/>
              <a:t>Quatrième niveau</a:t>
            </a:r>
            <a:endParaRPr lang="fr-FR" dirty="0"/>
          </a:p>
          <a:p>
            <a:pPr lvl="4"/>
            <a:r>
              <a:rPr lang="fr-FR" dirty="0"/>
              <a:t>Cinquième niveau</a:t>
            </a:r>
            <a:endParaRPr lang="fr-FR" dirty="0"/>
          </a:p>
        </p:txBody>
      </p:sp>
      <p:sp>
        <p:nvSpPr>
          <p:cNvPr id="25" name="Espace réservé du titre 7"/>
          <p:cNvSpPr>
            <a:spLocks noGrp="1"/>
          </p:cNvSpPr>
          <p:nvPr>
            <p:ph type="title" hasCustomPrompt="1"/>
          </p:nvPr>
        </p:nvSpPr>
        <p:spPr>
          <a:xfrm>
            <a:off x="473042" y="107157"/>
            <a:ext cx="11162432" cy="582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55">
                <a:solidFill>
                  <a:schemeClr val="accent2"/>
                </a:solidFill>
              </a:defRPr>
            </a:lvl1pPr>
          </a:lstStyle>
          <a:p>
            <a:r>
              <a:rPr lang="fr-FR" dirty="0"/>
              <a:t>TITRE DE LA DIAPOSITIVE</a:t>
            </a:r>
            <a:endParaRPr lang="fr-FR" dirty="0"/>
          </a:p>
        </p:txBody>
      </p:sp>
      <p:sp>
        <p:nvSpPr>
          <p:cNvPr id="41" name="object 19"/>
          <p:cNvSpPr/>
          <p:nvPr userDrawn="1"/>
        </p:nvSpPr>
        <p:spPr>
          <a:xfrm>
            <a:off x="535521" y="6146217"/>
            <a:ext cx="11153538" cy="0"/>
          </a:xfrm>
          <a:custGeom>
            <a:avLst/>
            <a:gdLst/>
            <a:ahLst/>
            <a:cxnLst/>
            <a:rect l="l" t="t" r="r" b="b"/>
            <a:pathLst>
              <a:path w="15870555">
                <a:moveTo>
                  <a:pt x="0" y="0"/>
                </a:moveTo>
                <a:lnTo>
                  <a:pt x="15870516" y="0"/>
                </a:lnTo>
              </a:path>
            </a:pathLst>
          </a:custGeom>
          <a:ln w="12700">
            <a:solidFill>
              <a:srgbClr val="A7AEC8"/>
            </a:solidFill>
          </a:ln>
        </p:spPr>
        <p:txBody>
          <a:bodyPr wrap="square" lIns="0" tIns="0" rIns="0" bIns="0" rtlCol="0"/>
          <a:lstStyle/>
          <a:p>
            <a:endParaRPr sz="1265" dirty="0"/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0158" y="5907764"/>
            <a:ext cx="1343297" cy="950238"/>
          </a:xfrm>
          <a:prstGeom prst="rect">
            <a:avLst/>
          </a:prstGeom>
        </p:spPr>
      </p:pic>
      <p:sp>
        <p:nvSpPr>
          <p:cNvPr id="24" name="object 6"/>
          <p:cNvSpPr/>
          <p:nvPr userDrawn="1"/>
        </p:nvSpPr>
        <p:spPr>
          <a:xfrm>
            <a:off x="526594" y="107156"/>
            <a:ext cx="699523" cy="69008"/>
          </a:xfrm>
          <a:custGeom>
            <a:avLst/>
            <a:gdLst/>
            <a:ahLst/>
            <a:cxnLst/>
            <a:rect l="l" t="t" r="r" b="b"/>
            <a:pathLst>
              <a:path w="1816100" h="190500">
                <a:moveTo>
                  <a:pt x="1816100" y="0"/>
                </a:moveTo>
                <a:lnTo>
                  <a:pt x="0" y="0"/>
                </a:lnTo>
                <a:lnTo>
                  <a:pt x="0" y="190500"/>
                </a:lnTo>
                <a:lnTo>
                  <a:pt x="1816100" y="190500"/>
                </a:lnTo>
                <a:lnTo>
                  <a:pt x="18161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1265" dirty="0"/>
          </a:p>
        </p:txBody>
      </p:sp>
      <p:sp>
        <p:nvSpPr>
          <p:cNvPr id="11" name="Holder 6"/>
          <p:cNvSpPr>
            <a:spLocks noGrp="1"/>
          </p:cNvSpPr>
          <p:nvPr userDrawn="1"/>
        </p:nvSpPr>
        <p:spPr>
          <a:xfrm>
            <a:off x="519248" y="6341768"/>
            <a:ext cx="11153506" cy="19476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b="1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fr-FR" sz="845" b="0" smtClean="0">
                <a:solidFill>
                  <a:srgbClr val="7C95BA"/>
                </a:solidFill>
              </a:rPr>
            </a:fld>
            <a:endParaRPr lang="fr-FR" sz="845" b="0" dirty="0">
              <a:solidFill>
                <a:srgbClr val="7C95BA"/>
              </a:solidFill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473043" y="627671"/>
            <a:ext cx="11162240" cy="490016"/>
          </a:xfrm>
        </p:spPr>
        <p:txBody>
          <a:bodyPr/>
          <a:lstStyle>
            <a:lvl1pPr>
              <a:defRPr sz="2810" b="1">
                <a:solidFill>
                  <a:schemeClr val="accent2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fr-FR" dirty="0"/>
              <a:t>Modifier les styles du texte du masque</a:t>
            </a:r>
            <a:endParaRPr lang="fr-FR" dirty="0"/>
          </a:p>
        </p:txBody>
      </p:sp>
      <p:grpSp>
        <p:nvGrpSpPr>
          <p:cNvPr id="12" name="Groupe 11"/>
          <p:cNvGrpSpPr/>
          <p:nvPr userDrawn="1"/>
        </p:nvGrpSpPr>
        <p:grpSpPr>
          <a:xfrm>
            <a:off x="526688" y="6117380"/>
            <a:ext cx="4833340" cy="603783"/>
            <a:chOff x="749431" y="8700272"/>
            <a:chExt cx="6877441" cy="858713"/>
          </a:xfrm>
        </p:grpSpPr>
        <p:pic>
          <p:nvPicPr>
            <p:cNvPr id="13" name="Image 1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9431" y="8913912"/>
              <a:ext cx="995232" cy="462573"/>
            </a:xfrm>
            <a:prstGeom prst="rect">
              <a:avLst/>
            </a:prstGeom>
          </p:spPr>
        </p:pic>
        <p:pic>
          <p:nvPicPr>
            <p:cNvPr id="14" name="Image 13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1487"/>
            <a:stretch>
              <a:fillRect/>
            </a:stretch>
          </p:blipFill>
          <p:spPr>
            <a:xfrm>
              <a:off x="1913619" y="8700272"/>
              <a:ext cx="3897957" cy="836423"/>
            </a:xfrm>
            <a:prstGeom prst="rect">
              <a:avLst/>
            </a:prstGeom>
          </p:spPr>
        </p:pic>
        <p:pic>
          <p:nvPicPr>
            <p:cNvPr id="15" name="Image 14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9100" y="8701213"/>
              <a:ext cx="857772" cy="857772"/>
            </a:xfrm>
            <a:prstGeom prst="rect">
              <a:avLst/>
            </a:prstGeom>
          </p:spPr>
        </p:pic>
        <p:pic>
          <p:nvPicPr>
            <p:cNvPr id="17" name="Image 16"/>
            <p:cNvPicPr>
              <a:picLocks noChangeAspect="1"/>
            </p:cNvPicPr>
            <p:nvPr userDrawn="1"/>
          </p:nvPicPr>
          <p:blipFill>
            <a:blip r:embed="rId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1644" y="8929475"/>
              <a:ext cx="650076" cy="49734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tags" Target="../tags/tag63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Relationship Id="rId3" Type="http://schemas.openxmlformats.org/officeDocument/2006/relationships/image" Target="../media/image8.jpeg"/><Relationship Id="rId22" Type="http://schemas.openxmlformats.org/officeDocument/2006/relationships/slideLayout" Target="../slideLayouts/slideLayout12.xml"/><Relationship Id="rId21" Type="http://schemas.openxmlformats.org/officeDocument/2006/relationships/image" Target="../media/image21.jpeg"/><Relationship Id="rId20" Type="http://schemas.openxmlformats.org/officeDocument/2006/relationships/image" Target="../media/image20.svg"/><Relationship Id="rId2" Type="http://schemas.openxmlformats.org/officeDocument/2006/relationships/image" Target="../media/image7.jpeg"/><Relationship Id="rId19" Type="http://schemas.openxmlformats.org/officeDocument/2006/relationships/image" Target="../media/image19.png"/><Relationship Id="rId18" Type="http://schemas.openxmlformats.org/officeDocument/2006/relationships/tags" Target="../tags/tag67.xml"/><Relationship Id="rId17" Type="http://schemas.openxmlformats.org/officeDocument/2006/relationships/image" Target="../media/image18.svg"/><Relationship Id="rId16" Type="http://schemas.openxmlformats.org/officeDocument/2006/relationships/image" Target="../media/image17.png"/><Relationship Id="rId15" Type="http://schemas.openxmlformats.org/officeDocument/2006/relationships/tags" Target="../tags/tag66.xml"/><Relationship Id="rId14" Type="http://schemas.openxmlformats.org/officeDocument/2006/relationships/image" Target="../media/image16.svg"/><Relationship Id="rId13" Type="http://schemas.openxmlformats.org/officeDocument/2006/relationships/image" Target="../media/image15.png"/><Relationship Id="rId12" Type="http://schemas.openxmlformats.org/officeDocument/2006/relationships/tags" Target="../tags/tag65.xml"/><Relationship Id="rId11" Type="http://schemas.openxmlformats.org/officeDocument/2006/relationships/image" Target="../media/image14.svg"/><Relationship Id="rId10" Type="http://schemas.openxmlformats.org/officeDocument/2006/relationships/image" Target="../media/image13.png"/><Relationship Id="rId1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6.jpeg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295436" y="1786926"/>
            <a:ext cx="9761855" cy="13296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3200" b="1" dirty="0"/>
              <a:t>Case Study</a:t>
            </a:r>
            <a:endParaRPr lang="en-US" altLang="zh-CN" sz="3200" b="1" dirty="0"/>
          </a:p>
          <a:p>
            <a:pPr algn="ctr"/>
            <a:r>
              <a:rPr lang="en-US" sz="3200" b="1" dirty="0"/>
              <a:t>of</a:t>
            </a:r>
            <a:endParaRPr lang="en-US" sz="3200" b="1" dirty="0"/>
          </a:p>
          <a:p>
            <a:pPr algn="ctr"/>
            <a:r>
              <a:rPr lang="en-US" altLang="zh-CN" sz="3600" b="1" dirty="0">
                <a:highlight>
                  <a:srgbClr val="FFFF00"/>
                </a:highlight>
              </a:rPr>
              <a:t>Natura &amp;Co</a:t>
            </a:r>
            <a:endParaRPr lang="en-US" altLang="zh-CN" sz="3600" b="1" dirty="0">
              <a:highlight>
                <a:srgbClr val="FFFF00"/>
              </a:highligh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46127" y="267018"/>
            <a:ext cx="1260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Group 10</a:t>
            </a:r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9439450" y="5865952"/>
            <a:ext cx="2649108" cy="2921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dirty="0"/>
              <a:t>孙恩琦</a:t>
            </a:r>
            <a:r>
              <a:rPr lang="en-US" altLang="zh-CN" sz="1100" dirty="0"/>
              <a:t> SUN </a:t>
            </a:r>
            <a:r>
              <a:rPr lang="en-US" altLang="zh-CN" sz="1100" dirty="0" err="1"/>
              <a:t>Enqi</a:t>
            </a:r>
            <a:r>
              <a:rPr lang="en-US" altLang="zh-CN" sz="1100" dirty="0"/>
              <a:t> 2024361012</a:t>
            </a:r>
            <a:endParaRPr lang="en-US" altLang="zh-CN" sz="11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038" y="453016"/>
            <a:ext cx="1797039" cy="20965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83" y="372857"/>
            <a:ext cx="1497245" cy="209654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30239" y="2509236"/>
            <a:ext cx="22477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曾梓言</a:t>
            </a:r>
            <a:r>
              <a:rPr lang="en-US" altLang="zh-CN" sz="1100" dirty="0"/>
              <a:t> ZENG Ziyan 2024361069</a:t>
            </a:r>
            <a:endParaRPr lang="zh-CN" altLang="en-US" sz="1100" dirty="0"/>
          </a:p>
        </p:txBody>
      </p:sp>
      <p:sp>
        <p:nvSpPr>
          <p:cNvPr id="11" name="文本框 10"/>
          <p:cNvSpPr txBox="1"/>
          <p:nvPr/>
        </p:nvSpPr>
        <p:spPr>
          <a:xfrm>
            <a:off x="9665440" y="2644523"/>
            <a:ext cx="23022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尹哲栋</a:t>
            </a:r>
            <a:r>
              <a:rPr lang="en-US" altLang="zh-CN" sz="1100" dirty="0"/>
              <a:t> YIN </a:t>
            </a:r>
            <a:r>
              <a:rPr lang="en-US" altLang="zh-CN" sz="1100" dirty="0" err="1"/>
              <a:t>Zhedong</a:t>
            </a:r>
            <a:r>
              <a:rPr lang="en-US" altLang="zh-CN" sz="1100" dirty="0"/>
              <a:t> 2024361067</a:t>
            </a:r>
            <a:endParaRPr lang="zh-CN" altLang="en-US" sz="1100" dirty="0"/>
          </a:p>
        </p:txBody>
      </p:sp>
      <p:sp>
        <p:nvSpPr>
          <p:cNvPr id="12" name="文本框 11"/>
          <p:cNvSpPr txBox="1"/>
          <p:nvPr/>
        </p:nvSpPr>
        <p:spPr>
          <a:xfrm>
            <a:off x="5013225" y="5876804"/>
            <a:ext cx="23262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袁千茹</a:t>
            </a:r>
            <a:r>
              <a:rPr lang="en-US" altLang="zh-CN" sz="1100" dirty="0"/>
              <a:t> YUAN Qianru 2024361047</a:t>
            </a:r>
            <a:endParaRPr lang="en-US" altLang="zh-CN" sz="1100" dirty="0"/>
          </a:p>
        </p:txBody>
      </p:sp>
      <p:sp>
        <p:nvSpPr>
          <p:cNvPr id="13" name="文本框 12"/>
          <p:cNvSpPr txBox="1"/>
          <p:nvPr/>
        </p:nvSpPr>
        <p:spPr>
          <a:xfrm>
            <a:off x="774551" y="5868297"/>
            <a:ext cx="21387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杨子璐</a:t>
            </a:r>
            <a:r>
              <a:rPr lang="en-US" altLang="zh-CN" sz="1100" dirty="0"/>
              <a:t> YANG Zilu 2024361085</a:t>
            </a:r>
            <a:endParaRPr lang="zh-CN" altLang="en-US" sz="11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431" y="3631286"/>
            <a:ext cx="1587138" cy="222176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4"/>
          <a:srcRect l="18272" r="17423"/>
          <a:stretch>
            <a:fillRect/>
          </a:stretch>
        </p:blipFill>
        <p:spPr>
          <a:xfrm>
            <a:off x="10022987" y="3696394"/>
            <a:ext cx="1587138" cy="210672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52" y="3643595"/>
            <a:ext cx="1580124" cy="2212327"/>
          </a:xfrm>
          <a:prstGeom prst="rect">
            <a:avLst/>
          </a:prstGeom>
        </p:spPr>
      </p:pic>
      <p:pic>
        <p:nvPicPr>
          <p:cNvPr id="17" name="图片 16" descr="图标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49880" y="1680845"/>
            <a:ext cx="914400" cy="914400"/>
          </a:xfrm>
          <a:prstGeom prst="rect">
            <a:avLst/>
          </a:prstGeom>
        </p:spPr>
      </p:pic>
      <p:pic>
        <p:nvPicPr>
          <p:cNvPr id="18" name="图片 17" descr="图标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18485" y="4514850"/>
            <a:ext cx="914400" cy="914400"/>
          </a:xfrm>
          <a:prstGeom prst="rect">
            <a:avLst/>
          </a:prstGeom>
        </p:spPr>
      </p:pic>
      <p:pic>
        <p:nvPicPr>
          <p:cNvPr id="19" name="图片 18" descr="图标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99400" y="4514850"/>
            <a:ext cx="914400" cy="914400"/>
          </a:xfrm>
          <a:prstGeom prst="rect">
            <a:avLst/>
          </a:prstGeom>
        </p:spPr>
      </p:pic>
      <p:pic>
        <p:nvPicPr>
          <p:cNvPr id="20" name="图片 19" descr="图标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213225" y="3232785"/>
            <a:ext cx="914400" cy="914400"/>
          </a:xfrm>
          <a:prstGeom prst="rect">
            <a:avLst/>
          </a:prstGeom>
        </p:spPr>
      </p:pic>
      <p:pic>
        <p:nvPicPr>
          <p:cNvPr id="21" name="图片 20" descr="图标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114030" y="2245995"/>
            <a:ext cx="914400" cy="914400"/>
          </a:xfrm>
          <a:prstGeom prst="rect">
            <a:avLst/>
          </a:prstGeom>
        </p:spPr>
      </p:pic>
      <p:pic>
        <p:nvPicPr>
          <p:cNvPr id="22" name="图片 21" descr="f09dd55cc6c0b4c0718a347bb0cd94f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55285" y="579755"/>
            <a:ext cx="1282065" cy="12820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54743" y="1060530"/>
          <a:ext cx="10972802" cy="502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1"/>
                <a:gridCol w="5486401"/>
              </a:tblGrid>
              <a:tr h="25683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C00000"/>
                          </a:solidFill>
                        </a:rPr>
                        <a:t>Market Penetration </a:t>
                      </a:r>
                      <a:endParaRPr lang="en-US" altLang="zh-CN" sz="2400" b="1" dirty="0">
                        <a:solidFill>
                          <a:srgbClr val="C00000"/>
                        </a:solidFill>
                      </a:endParaRPr>
                    </a:p>
                    <a:p>
                      <a:r>
                        <a:rPr lang="en-US" altLang="zh-CN" dirty="0"/>
                        <a:t>In its early stages, Natura </a:t>
                      </a:r>
                      <a:r>
                        <a:rPr lang="en-US" altLang="zh-CN" b="1" dirty="0"/>
                        <a:t>deepened its roots in the domestic Brazilian market.</a:t>
                      </a:r>
                      <a:r>
                        <a:rPr lang="en-US" altLang="zh-CN" dirty="0"/>
                        <a:t> It targeted young and wealthier consumers with premium </a:t>
                      </a:r>
                      <a:r>
                        <a:rPr lang="en-US" altLang="zh-CN" b="1" dirty="0"/>
                        <a:t>products by establishing a direct-sales model internally known as "relationship selling".</a:t>
                      </a:r>
                      <a:endParaRPr lang="en-US" altLang="zh-CN" b="1" dirty="0"/>
                    </a:p>
                    <a:p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4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Product and Services Development</a:t>
                      </a:r>
                      <a:endParaRPr lang="en-US" altLang="zh-CN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dirty="0"/>
                        <a:t>Natura consistently </a:t>
                      </a:r>
                      <a:r>
                        <a:rPr lang="en-US" altLang="zh-CN" b="1" dirty="0"/>
                        <a:t>introduced new products to stimulate growth in its existing markets</a:t>
                      </a:r>
                      <a:r>
                        <a:rPr lang="en-US" altLang="zh-CN" dirty="0"/>
                        <a:t>, such as product refills and soaps/creams for both mothers and babies. </a:t>
                      </a:r>
                      <a:r>
                        <a:rPr lang="en-US" altLang="zh-CN" b="1" dirty="0"/>
                        <a:t>The core of this strategy was the </a:t>
                      </a:r>
                      <a:r>
                        <a:rPr lang="en-US" altLang="zh-CN" b="1" dirty="0" err="1"/>
                        <a:t>Ekos</a:t>
                      </a:r>
                      <a:r>
                        <a:rPr lang="en-US" altLang="zh-CN" b="1" dirty="0"/>
                        <a:t> product line,</a:t>
                      </a:r>
                      <a:r>
                        <a:rPr lang="en-US" altLang="zh-CN" dirty="0"/>
                        <a:t> which leveraged Amazonian biodiversity assets and fully replaced synthetic alcohol with 100% organic alcohol in its formulas.</a:t>
                      </a:r>
                      <a:endParaRPr lang="en-US" altLang="zh-CN" dirty="0"/>
                    </a:p>
                    <a:p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30265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4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Market Development</a:t>
                      </a:r>
                      <a:endParaRPr lang="en-US" altLang="zh-CN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dirty="0"/>
                        <a:t>Natura </a:t>
                      </a:r>
                      <a:r>
                        <a:rPr lang="en-US" altLang="zh-CN" b="1" dirty="0"/>
                        <a:t>undertook massive geographic expansion</a:t>
                      </a:r>
                      <a:r>
                        <a:rPr lang="en-US" altLang="zh-CN" dirty="0"/>
                        <a:t>. It initially expanded into Latin American countries like Argentina, Chile, and Peru, and opened a mono-brand store in Paris in 2005. Later, through acquisitions, it expanded its global footprint to 73 countries.</a:t>
                      </a:r>
                      <a:endParaRPr lang="en-US" altLang="zh-CN" dirty="0"/>
                    </a:p>
                    <a:p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4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Unrelated Diversification</a:t>
                      </a:r>
                      <a:endParaRPr lang="en-US" altLang="zh-CN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dirty="0"/>
                        <a:t>Natura </a:t>
                      </a:r>
                      <a:r>
                        <a:rPr lang="en-US" altLang="zh-CN" b="1" dirty="0"/>
                        <a:t>did not pursue Unrelated Diversification</a:t>
                      </a:r>
                      <a:r>
                        <a:rPr lang="en-US" altLang="zh-CN" dirty="0"/>
                        <a:t>. It remained a "pure-play beauty group," keeping its operations strictly within the beauty and personal care industry.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443341" y="81658"/>
            <a:ext cx="6096896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ln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Corporate strategy directions</a:t>
            </a: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28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Ansoff matrix</a:t>
            </a:r>
            <a:endParaRPr lang="zh-CN" altLang="en-US" sz="2800" dirty="0"/>
          </a:p>
        </p:txBody>
      </p:sp>
      <p:sp>
        <p:nvSpPr>
          <p:cNvPr id="12" name="箭头: 右 11"/>
          <p:cNvSpPr/>
          <p:nvPr/>
        </p:nvSpPr>
        <p:spPr>
          <a:xfrm>
            <a:off x="645886" y="954808"/>
            <a:ext cx="11277599" cy="206335"/>
          </a:xfrm>
          <a:prstGeom prst="rightArrow">
            <a:avLst>
              <a:gd name="adj1" fmla="val 50000"/>
              <a:gd name="adj2" fmla="val 6372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/>
          <p:cNvSpPr/>
          <p:nvPr/>
        </p:nvSpPr>
        <p:spPr>
          <a:xfrm rot="5400000">
            <a:off x="-1938440" y="3461367"/>
            <a:ext cx="5277509" cy="328139"/>
          </a:xfrm>
          <a:prstGeom prst="rightArrow">
            <a:avLst>
              <a:gd name="adj1" fmla="val 50000"/>
              <a:gd name="adj2" fmla="val 6372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9035143" y="583476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Products/Services</a:t>
            </a:r>
            <a:endParaRPr lang="zh-CN" altLang="en-US" b="1" dirty="0"/>
          </a:p>
        </p:txBody>
      </p:sp>
      <p:sp>
        <p:nvSpPr>
          <p:cNvPr id="16" name="文本框 15"/>
          <p:cNvSpPr txBox="1"/>
          <p:nvPr/>
        </p:nvSpPr>
        <p:spPr>
          <a:xfrm rot="16200000">
            <a:off x="-197367" y="523240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Markets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95320" y="1150057"/>
            <a:ext cx="10949349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/>
              <a:t>• Backward Integration </a:t>
            </a:r>
            <a:endParaRPr lang="en-US" altLang="zh-CN" sz="2800" b="1" dirty="0"/>
          </a:p>
          <a:p>
            <a:r>
              <a:rPr lang="en-US" altLang="zh-CN" sz="2000" dirty="0"/>
              <a:t>Natura went deep into the Amazon rainforest </a:t>
            </a:r>
            <a:r>
              <a:rPr lang="en-US" altLang="zh-CN" sz="2000" b="1" i="1" dirty="0">
                <a:solidFill>
                  <a:srgbClr val="C00000"/>
                </a:solidFill>
              </a:rPr>
              <a:t>to directly participate in the construction of the raw material supply chain</a:t>
            </a:r>
            <a:r>
              <a:rPr lang="en-US" altLang="zh-CN" sz="2000" dirty="0"/>
              <a:t>. The company did not only </a:t>
            </a:r>
            <a:r>
              <a:rPr lang="en-US" altLang="zh-CN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source botanical ingredients</a:t>
            </a:r>
            <a:r>
              <a:rPr lang="en-US" altLang="zh-CN" sz="2000" dirty="0"/>
              <a:t>, but also identified</a:t>
            </a:r>
            <a:r>
              <a:rPr lang="en-US" altLang="zh-CN" sz="2000" b="1" i="1" dirty="0">
                <a:solidFill>
                  <a:srgbClr val="C00000"/>
                </a:solidFill>
              </a:rPr>
              <a:t> </a:t>
            </a:r>
            <a:r>
              <a:rPr lang="en-US" altLang="zh-CN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cultivation sites</a:t>
            </a:r>
            <a:r>
              <a:rPr lang="en-US" altLang="zh-CN" sz="2000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000" dirty="0"/>
              <a:t>for </a:t>
            </a:r>
            <a:r>
              <a:rPr lang="en-US" altLang="zh-CN" sz="2000" dirty="0" err="1"/>
              <a:t>priprioca</a:t>
            </a:r>
            <a:r>
              <a:rPr lang="en-US" altLang="zh-CN" sz="2000" dirty="0"/>
              <a:t>, </a:t>
            </a:r>
            <a:r>
              <a:rPr lang="en-US" altLang="zh-CN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taught local families how to harvest</a:t>
            </a:r>
            <a:r>
              <a:rPr lang="en-US" altLang="zh-CN" sz="2000" dirty="0"/>
              <a:t>, and </a:t>
            </a:r>
            <a:r>
              <a:rPr lang="en-US" altLang="zh-CN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personally recruits processors </a:t>
            </a:r>
            <a:r>
              <a:rPr lang="en-US" altLang="zh-CN" sz="2000" dirty="0"/>
              <a:t>to extract the oils. Furthermore, it directly </a:t>
            </a:r>
            <a:r>
              <a:rPr lang="en-US" altLang="zh-CN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cooperated with 31 local communities </a:t>
            </a:r>
            <a:r>
              <a:rPr lang="en-US" altLang="zh-CN" sz="2000" dirty="0"/>
              <a:t>(over 4,600 families). </a:t>
            </a:r>
            <a:r>
              <a:rPr lang="en-US" altLang="zh-CN" sz="2000" b="1" i="1" dirty="0">
                <a:solidFill>
                  <a:srgbClr val="C00000"/>
                </a:solidFill>
              </a:rPr>
              <a:t>These demonstrates Natura’s extremely strong control over its supply sources.</a:t>
            </a:r>
            <a:endParaRPr lang="en-US" altLang="zh-CN" sz="2000" b="1" i="1" dirty="0">
              <a:solidFill>
                <a:srgbClr val="C00000"/>
              </a:solidFill>
            </a:endParaRPr>
          </a:p>
          <a:p>
            <a:endParaRPr lang="en-US" altLang="zh-CN" sz="2000" b="1" i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• Forward Integration</a:t>
            </a:r>
            <a:endParaRPr lang="en-US" altLang="zh-CN" sz="2800" b="1" dirty="0"/>
          </a:p>
          <a:p>
            <a:r>
              <a:rPr lang="en-US" altLang="zh-CN" sz="2000" b="1" i="1" dirty="0">
                <a:solidFill>
                  <a:srgbClr val="C00000"/>
                </a:solidFill>
              </a:rPr>
              <a:t>Initially relying entirely on direct-sales representatives, Natura later built its own retail channels</a:t>
            </a:r>
            <a:r>
              <a:rPr lang="en-US" altLang="zh-CN" sz="2000" dirty="0"/>
              <a:t>. It opened </a:t>
            </a:r>
            <a:r>
              <a:rPr lang="en-US" altLang="zh-CN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45 company-owned stores </a:t>
            </a:r>
            <a:r>
              <a:rPr lang="en-US" altLang="zh-CN" sz="2000" dirty="0"/>
              <a:t>in Brazil and </a:t>
            </a:r>
            <a:r>
              <a:rPr lang="en-US" altLang="zh-CN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built a leading digital platform</a:t>
            </a:r>
            <a:r>
              <a:rPr lang="en-US" altLang="zh-CN" sz="2000" dirty="0"/>
              <a:t>. Through the </a:t>
            </a:r>
            <a:r>
              <a:rPr lang="en-US" altLang="zh-CN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acquisitions of </a:t>
            </a:r>
            <a:r>
              <a:rPr lang="en-US" altLang="zh-CN" sz="2000" i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Aēsop</a:t>
            </a:r>
            <a:r>
              <a:rPr lang="en-US" altLang="zh-CN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The Body Shop</a:t>
            </a:r>
            <a:r>
              <a:rPr lang="en-US" altLang="zh-CN" sz="2000" dirty="0"/>
              <a:t>, Natura</a:t>
            </a:r>
            <a:r>
              <a:rPr lang="en-US" altLang="zh-CN" sz="2000" b="1" i="1" dirty="0">
                <a:solidFill>
                  <a:srgbClr val="C00000"/>
                </a:solidFill>
              </a:rPr>
              <a:t> extensively transitioned toward end-consumer retail and an omnichannel model.</a:t>
            </a:r>
            <a:endParaRPr lang="zh-CN" altLang="en-US" sz="2000" b="1" i="1" dirty="0">
              <a:solidFill>
                <a:srgbClr val="C0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1160" y="195447"/>
            <a:ext cx="38729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</a:rPr>
              <a:t>Vertical Integration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46329" y="843676"/>
            <a:ext cx="929934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Natura simultaneously engaged in deep backward and forward integration:</a:t>
            </a:r>
            <a:endParaRPr lang="zh-CN" altLang="en-US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2" name="DNAPPT-20251"/>
          <p:cNvSpPr/>
          <p:nvPr/>
        </p:nvSpPr>
        <p:spPr>
          <a:xfrm>
            <a:off x="335999" y="780323"/>
            <a:ext cx="11520000" cy="504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0703" y="6160151"/>
            <a:ext cx="1304883" cy="431540"/>
          </a:xfrm>
          <a:prstGeom prst="rect">
            <a:avLst/>
          </a:prstGeom>
        </p:spPr>
      </p:pic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640983" y="187071"/>
            <a:ext cx="5465062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Diversification Strategy</a:t>
            </a:r>
            <a:endParaRPr kumimoji="0" lang="zh-CN" altLang="zh-CN" sz="32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DNAPPT-20251"/>
          <p:cNvSpPr/>
          <p:nvPr/>
        </p:nvSpPr>
        <p:spPr>
          <a:xfrm>
            <a:off x="335999" y="780323"/>
            <a:ext cx="11520000" cy="504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DNAPPT-20255"/>
          <p:cNvSpPr/>
          <p:nvPr/>
        </p:nvSpPr>
        <p:spPr>
          <a:xfrm flipH="1" flipV="1">
            <a:off x="1291155" y="4499676"/>
            <a:ext cx="4163935" cy="1376881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3400"/>
              <a:gd name="adj6" fmla="val -31399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NAPPT-20258"/>
          <p:cNvSpPr/>
          <p:nvPr/>
        </p:nvSpPr>
        <p:spPr>
          <a:xfrm flipV="1">
            <a:off x="8953813" y="3778618"/>
            <a:ext cx="2572927" cy="2064774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4470"/>
              <a:gd name="adj6" fmla="val -29107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NAPPT-20259"/>
          <p:cNvSpPr/>
          <p:nvPr/>
        </p:nvSpPr>
        <p:spPr>
          <a:xfrm>
            <a:off x="8880702" y="1076867"/>
            <a:ext cx="2975297" cy="1854592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3668"/>
              <a:gd name="adj6" fmla="val -33824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NAPPT-20256"/>
          <p:cNvSpPr/>
          <p:nvPr/>
        </p:nvSpPr>
        <p:spPr>
          <a:xfrm flipH="1">
            <a:off x="580913" y="2596530"/>
            <a:ext cx="4059410" cy="1466255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8708"/>
              <a:gd name="adj6" fmla="val -3226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5841250" y="2329465"/>
            <a:ext cx="2787510" cy="2696476"/>
            <a:chOff x="4453924" y="2147761"/>
            <a:chExt cx="3485056" cy="3524333"/>
          </a:xfrm>
        </p:grpSpPr>
        <p:sp>
          <p:nvSpPr>
            <p:cNvPr id="21" name="DNAPPT-202514"/>
            <p:cNvSpPr/>
            <p:nvPr/>
          </p:nvSpPr>
          <p:spPr>
            <a:xfrm>
              <a:off x="6565169" y="3115441"/>
              <a:ext cx="1373811" cy="2317316"/>
            </a:xfrm>
            <a:custGeom>
              <a:avLst/>
              <a:gdLst/>
              <a:ahLst/>
              <a:cxnLst/>
              <a:rect l="l" t="t" r="r" b="b"/>
              <a:pathLst>
                <a:path w="936625" h="1579879">
                  <a:moveTo>
                    <a:pt x="807135" y="0"/>
                  </a:moveTo>
                  <a:lnTo>
                    <a:pt x="0" y="0"/>
                  </a:lnTo>
                  <a:lnTo>
                    <a:pt x="43570" y="23282"/>
                  </a:lnTo>
                  <a:lnTo>
                    <a:pt x="84918" y="49938"/>
                  </a:lnTo>
                  <a:lnTo>
                    <a:pt x="123860" y="79782"/>
                  </a:lnTo>
                  <a:lnTo>
                    <a:pt x="160211" y="112631"/>
                  </a:lnTo>
                  <a:lnTo>
                    <a:pt x="193788" y="148301"/>
                  </a:lnTo>
                  <a:lnTo>
                    <a:pt x="224406" y="186607"/>
                  </a:lnTo>
                  <a:lnTo>
                    <a:pt x="251882" y="227367"/>
                  </a:lnTo>
                  <a:lnTo>
                    <a:pt x="276033" y="270395"/>
                  </a:lnTo>
                  <a:lnTo>
                    <a:pt x="296673" y="315508"/>
                  </a:lnTo>
                  <a:lnTo>
                    <a:pt x="313620" y="362522"/>
                  </a:lnTo>
                  <a:lnTo>
                    <a:pt x="326690" y="411253"/>
                  </a:lnTo>
                  <a:lnTo>
                    <a:pt x="335698" y="461517"/>
                  </a:lnTo>
                  <a:lnTo>
                    <a:pt x="340461" y="513130"/>
                  </a:lnTo>
                  <a:lnTo>
                    <a:pt x="341210" y="513130"/>
                  </a:lnTo>
                  <a:lnTo>
                    <a:pt x="341210" y="1579372"/>
                  </a:lnTo>
                  <a:lnTo>
                    <a:pt x="381774" y="1554569"/>
                  </a:lnTo>
                  <a:lnTo>
                    <a:pt x="421259" y="1528226"/>
                  </a:lnTo>
                  <a:lnTo>
                    <a:pt x="459623" y="1500386"/>
                  </a:lnTo>
                  <a:lnTo>
                    <a:pt x="496825" y="1471089"/>
                  </a:lnTo>
                  <a:lnTo>
                    <a:pt x="532822" y="1440378"/>
                  </a:lnTo>
                  <a:lnTo>
                    <a:pt x="567574" y="1408294"/>
                  </a:lnTo>
                  <a:lnTo>
                    <a:pt x="601037" y="1374880"/>
                  </a:lnTo>
                  <a:lnTo>
                    <a:pt x="633171" y="1340176"/>
                  </a:lnTo>
                  <a:lnTo>
                    <a:pt x="663933" y="1304224"/>
                  </a:lnTo>
                  <a:lnTo>
                    <a:pt x="693282" y="1267067"/>
                  </a:lnTo>
                  <a:lnTo>
                    <a:pt x="721176" y="1228746"/>
                  </a:lnTo>
                  <a:lnTo>
                    <a:pt x="747574" y="1189302"/>
                  </a:lnTo>
                  <a:lnTo>
                    <a:pt x="772433" y="1148778"/>
                  </a:lnTo>
                  <a:lnTo>
                    <a:pt x="795711" y="1107215"/>
                  </a:lnTo>
                  <a:lnTo>
                    <a:pt x="817367" y="1064655"/>
                  </a:lnTo>
                  <a:lnTo>
                    <a:pt x="837360" y="1021139"/>
                  </a:lnTo>
                  <a:lnTo>
                    <a:pt x="855646" y="976710"/>
                  </a:lnTo>
                  <a:lnTo>
                    <a:pt x="872185" y="931409"/>
                  </a:lnTo>
                  <a:lnTo>
                    <a:pt x="886935" y="885278"/>
                  </a:lnTo>
                  <a:lnTo>
                    <a:pt x="899854" y="838358"/>
                  </a:lnTo>
                  <a:lnTo>
                    <a:pt x="910900" y="790692"/>
                  </a:lnTo>
                  <a:lnTo>
                    <a:pt x="920031" y="742320"/>
                  </a:lnTo>
                  <a:lnTo>
                    <a:pt x="927206" y="693286"/>
                  </a:lnTo>
                  <a:lnTo>
                    <a:pt x="932382" y="643630"/>
                  </a:lnTo>
                  <a:lnTo>
                    <a:pt x="935519" y="593394"/>
                  </a:lnTo>
                  <a:lnTo>
                    <a:pt x="936574" y="542620"/>
                  </a:lnTo>
                  <a:lnTo>
                    <a:pt x="935424" y="489638"/>
                  </a:lnTo>
                  <a:lnTo>
                    <a:pt x="932009" y="437244"/>
                  </a:lnTo>
                  <a:lnTo>
                    <a:pt x="926374" y="385486"/>
                  </a:lnTo>
                  <a:lnTo>
                    <a:pt x="918568" y="334412"/>
                  </a:lnTo>
                  <a:lnTo>
                    <a:pt x="908638" y="284068"/>
                  </a:lnTo>
                  <a:lnTo>
                    <a:pt x="896632" y="234501"/>
                  </a:lnTo>
                  <a:lnTo>
                    <a:pt x="882599" y="185761"/>
                  </a:lnTo>
                  <a:lnTo>
                    <a:pt x="866584" y="137893"/>
                  </a:lnTo>
                  <a:lnTo>
                    <a:pt x="848637" y="90945"/>
                  </a:lnTo>
                  <a:lnTo>
                    <a:pt x="828805" y="44965"/>
                  </a:lnTo>
                  <a:lnTo>
                    <a:pt x="807135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DNAPPT-202515"/>
            <p:cNvSpPr/>
            <p:nvPr/>
          </p:nvSpPr>
          <p:spPr>
            <a:xfrm>
              <a:off x="4672337" y="4296422"/>
              <a:ext cx="2321974" cy="1375672"/>
            </a:xfrm>
            <a:custGeom>
              <a:avLst/>
              <a:gdLst/>
              <a:ahLst/>
              <a:cxnLst/>
              <a:rect l="l" t="t" r="r" b="b"/>
              <a:pathLst>
                <a:path w="1583055" h="937895">
                  <a:moveTo>
                    <a:pt x="1582496" y="0"/>
                  </a:moveTo>
                  <a:lnTo>
                    <a:pt x="1560218" y="41852"/>
                  </a:lnTo>
                  <a:lnTo>
                    <a:pt x="1534828" y="81664"/>
                  </a:lnTo>
                  <a:lnTo>
                    <a:pt x="1506487" y="119272"/>
                  </a:lnTo>
                  <a:lnTo>
                    <a:pt x="1475358" y="154515"/>
                  </a:lnTo>
                  <a:lnTo>
                    <a:pt x="1441604" y="187230"/>
                  </a:lnTo>
                  <a:lnTo>
                    <a:pt x="1405387" y="217254"/>
                  </a:lnTo>
                  <a:lnTo>
                    <a:pt x="1366870" y="244425"/>
                  </a:lnTo>
                  <a:lnTo>
                    <a:pt x="1326216" y="268582"/>
                  </a:lnTo>
                  <a:lnTo>
                    <a:pt x="1283588" y="289560"/>
                  </a:lnTo>
                  <a:lnTo>
                    <a:pt x="1239147" y="307199"/>
                  </a:lnTo>
                  <a:lnTo>
                    <a:pt x="1193057" y="321336"/>
                  </a:lnTo>
                  <a:lnTo>
                    <a:pt x="1145480" y="331808"/>
                  </a:lnTo>
                  <a:lnTo>
                    <a:pt x="1096580" y="338453"/>
                  </a:lnTo>
                  <a:lnTo>
                    <a:pt x="1046518" y="341109"/>
                  </a:lnTo>
                  <a:lnTo>
                    <a:pt x="0" y="341198"/>
                  </a:lnTo>
                  <a:lnTo>
                    <a:pt x="24788" y="381827"/>
                  </a:lnTo>
                  <a:lnTo>
                    <a:pt x="51121" y="421376"/>
                  </a:lnTo>
                  <a:lnTo>
                    <a:pt x="78955" y="459804"/>
                  </a:lnTo>
                  <a:lnTo>
                    <a:pt x="108249" y="497068"/>
                  </a:lnTo>
                  <a:lnTo>
                    <a:pt x="138962" y="533125"/>
                  </a:lnTo>
                  <a:lnTo>
                    <a:pt x="171050" y="567936"/>
                  </a:lnTo>
                  <a:lnTo>
                    <a:pt x="204473" y="601457"/>
                  </a:lnTo>
                  <a:lnTo>
                    <a:pt x="239189" y="633646"/>
                  </a:lnTo>
                  <a:lnTo>
                    <a:pt x="275155" y="664462"/>
                  </a:lnTo>
                  <a:lnTo>
                    <a:pt x="312330" y="693863"/>
                  </a:lnTo>
                  <a:lnTo>
                    <a:pt x="350672" y="721807"/>
                  </a:lnTo>
                  <a:lnTo>
                    <a:pt x="390139" y="748251"/>
                  </a:lnTo>
                  <a:lnTo>
                    <a:pt x="430690" y="773155"/>
                  </a:lnTo>
                  <a:lnTo>
                    <a:pt x="472282" y="796476"/>
                  </a:lnTo>
                  <a:lnTo>
                    <a:pt x="514873" y="818171"/>
                  </a:lnTo>
                  <a:lnTo>
                    <a:pt x="558422" y="838201"/>
                  </a:lnTo>
                  <a:lnTo>
                    <a:pt x="602887" y="856521"/>
                  </a:lnTo>
                  <a:lnTo>
                    <a:pt x="648225" y="873091"/>
                  </a:lnTo>
                  <a:lnTo>
                    <a:pt x="694396" y="887869"/>
                  </a:lnTo>
                  <a:lnTo>
                    <a:pt x="741357" y="900812"/>
                  </a:lnTo>
                  <a:lnTo>
                    <a:pt x="789066" y="911879"/>
                  </a:lnTo>
                  <a:lnTo>
                    <a:pt x="837482" y="921028"/>
                  </a:lnTo>
                  <a:lnTo>
                    <a:pt x="886563" y="928216"/>
                  </a:lnTo>
                  <a:lnTo>
                    <a:pt x="936266" y="933403"/>
                  </a:lnTo>
                  <a:lnTo>
                    <a:pt x="986550" y="936546"/>
                  </a:lnTo>
                  <a:lnTo>
                    <a:pt x="1037374" y="937602"/>
                  </a:lnTo>
                  <a:lnTo>
                    <a:pt x="1090623" y="936442"/>
                  </a:lnTo>
                  <a:lnTo>
                    <a:pt x="1143278" y="932992"/>
                  </a:lnTo>
                  <a:lnTo>
                    <a:pt x="1195291" y="927301"/>
                  </a:lnTo>
                  <a:lnTo>
                    <a:pt x="1246614" y="919418"/>
                  </a:lnTo>
                  <a:lnTo>
                    <a:pt x="1297198" y="909391"/>
                  </a:lnTo>
                  <a:lnTo>
                    <a:pt x="1346995" y="897268"/>
                  </a:lnTo>
                  <a:lnTo>
                    <a:pt x="1395958" y="883099"/>
                  </a:lnTo>
                  <a:lnTo>
                    <a:pt x="1444037" y="866931"/>
                  </a:lnTo>
                  <a:lnTo>
                    <a:pt x="1491185" y="848813"/>
                  </a:lnTo>
                  <a:lnTo>
                    <a:pt x="1537354" y="828793"/>
                  </a:lnTo>
                  <a:lnTo>
                    <a:pt x="1582496" y="806919"/>
                  </a:lnTo>
                  <a:lnTo>
                    <a:pt x="158249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DNAPPT-202512"/>
            <p:cNvSpPr/>
            <p:nvPr/>
          </p:nvSpPr>
          <p:spPr>
            <a:xfrm>
              <a:off x="5415182" y="2147761"/>
              <a:ext cx="2317317" cy="1377536"/>
            </a:xfrm>
            <a:custGeom>
              <a:avLst/>
              <a:gdLst/>
              <a:ahLst/>
              <a:cxnLst/>
              <a:rect l="l" t="t" r="r" b="b"/>
              <a:pathLst>
                <a:path w="1579879" h="939164">
                  <a:moveTo>
                    <a:pt x="541604" y="0"/>
                  </a:moveTo>
                  <a:lnTo>
                    <a:pt x="488732" y="1144"/>
                  </a:lnTo>
                  <a:lnTo>
                    <a:pt x="436446" y="4547"/>
                  </a:lnTo>
                  <a:lnTo>
                    <a:pt x="384793" y="10160"/>
                  </a:lnTo>
                  <a:lnTo>
                    <a:pt x="333820" y="17936"/>
                  </a:lnTo>
                  <a:lnTo>
                    <a:pt x="283574" y="27826"/>
                  </a:lnTo>
                  <a:lnTo>
                    <a:pt x="234102" y="39784"/>
                  </a:lnTo>
                  <a:lnTo>
                    <a:pt x="185451" y="53762"/>
                  </a:lnTo>
                  <a:lnTo>
                    <a:pt x="137669" y="69712"/>
                  </a:lnTo>
                  <a:lnTo>
                    <a:pt x="90801" y="87586"/>
                  </a:lnTo>
                  <a:lnTo>
                    <a:pt x="44896" y="107337"/>
                  </a:lnTo>
                  <a:lnTo>
                    <a:pt x="0" y="128917"/>
                  </a:lnTo>
                  <a:lnTo>
                    <a:pt x="0" y="939088"/>
                  </a:lnTo>
                  <a:lnTo>
                    <a:pt x="21758" y="898129"/>
                  </a:lnTo>
                  <a:lnTo>
                    <a:pt x="46498" y="859120"/>
                  </a:lnTo>
                  <a:lnTo>
                    <a:pt x="74067" y="822212"/>
                  </a:lnTo>
                  <a:lnTo>
                    <a:pt x="104312" y="787556"/>
                  </a:lnTo>
                  <a:lnTo>
                    <a:pt x="137082" y="755306"/>
                  </a:lnTo>
                  <a:lnTo>
                    <a:pt x="172225" y="725613"/>
                  </a:lnTo>
                  <a:lnTo>
                    <a:pt x="209588" y="698628"/>
                  </a:lnTo>
                  <a:lnTo>
                    <a:pt x="249019" y="674504"/>
                  </a:lnTo>
                  <a:lnTo>
                    <a:pt x="290366" y="653393"/>
                  </a:lnTo>
                  <a:lnTo>
                    <a:pt x="333478" y="635447"/>
                  </a:lnTo>
                  <a:lnTo>
                    <a:pt x="378201" y="620818"/>
                  </a:lnTo>
                  <a:lnTo>
                    <a:pt x="424384" y="609656"/>
                  </a:lnTo>
                  <a:lnTo>
                    <a:pt x="471875" y="602116"/>
                  </a:lnTo>
                  <a:lnTo>
                    <a:pt x="520522" y="598347"/>
                  </a:lnTo>
                  <a:lnTo>
                    <a:pt x="520522" y="597865"/>
                  </a:lnTo>
                  <a:lnTo>
                    <a:pt x="1579841" y="597865"/>
                  </a:lnTo>
                  <a:lnTo>
                    <a:pt x="1555073" y="557142"/>
                  </a:lnTo>
                  <a:lnTo>
                    <a:pt x="1528756" y="517502"/>
                  </a:lnTo>
                  <a:lnTo>
                    <a:pt x="1500931" y="478985"/>
                  </a:lnTo>
                  <a:lnTo>
                    <a:pt x="1471640" y="441633"/>
                  </a:lnTo>
                  <a:lnTo>
                    <a:pt x="1440927" y="405490"/>
                  </a:lnTo>
                  <a:lnTo>
                    <a:pt x="1408832" y="370596"/>
                  </a:lnTo>
                  <a:lnTo>
                    <a:pt x="1375398" y="336995"/>
                  </a:lnTo>
                  <a:lnTo>
                    <a:pt x="1340667" y="304727"/>
                  </a:lnTo>
                  <a:lnTo>
                    <a:pt x="1304680" y="273835"/>
                  </a:lnTo>
                  <a:lnTo>
                    <a:pt x="1267481" y="244362"/>
                  </a:lnTo>
                  <a:lnTo>
                    <a:pt x="1229110" y="216349"/>
                  </a:lnTo>
                  <a:lnTo>
                    <a:pt x="1189611" y="189839"/>
                  </a:lnTo>
                  <a:lnTo>
                    <a:pt x="1149024" y="164872"/>
                  </a:lnTo>
                  <a:lnTo>
                    <a:pt x="1107392" y="141493"/>
                  </a:lnTo>
                  <a:lnTo>
                    <a:pt x="1064758" y="119742"/>
                  </a:lnTo>
                  <a:lnTo>
                    <a:pt x="1021162" y="99661"/>
                  </a:lnTo>
                  <a:lnTo>
                    <a:pt x="976648" y="81294"/>
                  </a:lnTo>
                  <a:lnTo>
                    <a:pt x="931257" y="64681"/>
                  </a:lnTo>
                  <a:lnTo>
                    <a:pt x="885031" y="49865"/>
                  </a:lnTo>
                  <a:lnTo>
                    <a:pt x="838012" y="36888"/>
                  </a:lnTo>
                  <a:lnTo>
                    <a:pt x="790242" y="25792"/>
                  </a:lnTo>
                  <a:lnTo>
                    <a:pt x="741764" y="16619"/>
                  </a:lnTo>
                  <a:lnTo>
                    <a:pt x="692619" y="9411"/>
                  </a:lnTo>
                  <a:lnTo>
                    <a:pt x="642849" y="4210"/>
                  </a:lnTo>
                  <a:lnTo>
                    <a:pt x="592497" y="1059"/>
                  </a:lnTo>
                  <a:lnTo>
                    <a:pt x="54160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DNAPPT-202513"/>
            <p:cNvSpPr/>
            <p:nvPr/>
          </p:nvSpPr>
          <p:spPr>
            <a:xfrm>
              <a:off x="4453924" y="2386188"/>
              <a:ext cx="1379400" cy="2321973"/>
            </a:xfrm>
            <a:custGeom>
              <a:avLst/>
              <a:gdLst/>
              <a:ahLst/>
              <a:cxnLst/>
              <a:rect l="l" t="t" r="r" b="b"/>
              <a:pathLst>
                <a:path w="940435" h="1583055">
                  <a:moveTo>
                    <a:pt x="598893" y="0"/>
                  </a:moveTo>
                  <a:lnTo>
                    <a:pt x="558106" y="24754"/>
                  </a:lnTo>
                  <a:lnTo>
                    <a:pt x="518401" y="51061"/>
                  </a:lnTo>
                  <a:lnTo>
                    <a:pt x="479821" y="78880"/>
                  </a:lnTo>
                  <a:lnTo>
                    <a:pt x="442408" y="108167"/>
                  </a:lnTo>
                  <a:lnTo>
                    <a:pt x="406204" y="138882"/>
                  </a:lnTo>
                  <a:lnTo>
                    <a:pt x="371252" y="170981"/>
                  </a:lnTo>
                  <a:lnTo>
                    <a:pt x="337593" y="204423"/>
                  </a:lnTo>
                  <a:lnTo>
                    <a:pt x="305271" y="239166"/>
                  </a:lnTo>
                  <a:lnTo>
                    <a:pt x="274326" y="275166"/>
                  </a:lnTo>
                  <a:lnTo>
                    <a:pt x="244802" y="312383"/>
                  </a:lnTo>
                  <a:lnTo>
                    <a:pt x="216740" y="350774"/>
                  </a:lnTo>
                  <a:lnTo>
                    <a:pt x="190183" y="390296"/>
                  </a:lnTo>
                  <a:lnTo>
                    <a:pt x="165173" y="430909"/>
                  </a:lnTo>
                  <a:lnTo>
                    <a:pt x="141751" y="472569"/>
                  </a:lnTo>
                  <a:lnTo>
                    <a:pt x="119961" y="515234"/>
                  </a:lnTo>
                  <a:lnTo>
                    <a:pt x="99845" y="558863"/>
                  </a:lnTo>
                  <a:lnTo>
                    <a:pt x="81444" y="603413"/>
                  </a:lnTo>
                  <a:lnTo>
                    <a:pt x="64801" y="648842"/>
                  </a:lnTo>
                  <a:lnTo>
                    <a:pt x="49957" y="695108"/>
                  </a:lnTo>
                  <a:lnTo>
                    <a:pt x="36956" y="742168"/>
                  </a:lnTo>
                  <a:lnTo>
                    <a:pt x="25840" y="789981"/>
                  </a:lnTo>
                  <a:lnTo>
                    <a:pt x="16650" y="838504"/>
                  </a:lnTo>
                  <a:lnTo>
                    <a:pt x="9429" y="887696"/>
                  </a:lnTo>
                  <a:lnTo>
                    <a:pt x="4218" y="937514"/>
                  </a:lnTo>
                  <a:lnTo>
                    <a:pt x="1061" y="987916"/>
                  </a:lnTo>
                  <a:lnTo>
                    <a:pt x="0" y="1038860"/>
                  </a:lnTo>
                  <a:lnTo>
                    <a:pt x="1155" y="1091999"/>
                  </a:lnTo>
                  <a:lnTo>
                    <a:pt x="4591" y="1144547"/>
                  </a:lnTo>
                  <a:lnTo>
                    <a:pt x="10257" y="1196455"/>
                  </a:lnTo>
                  <a:lnTo>
                    <a:pt x="18108" y="1247675"/>
                  </a:lnTo>
                  <a:lnTo>
                    <a:pt x="28093" y="1298161"/>
                  </a:lnTo>
                  <a:lnTo>
                    <a:pt x="40166" y="1347863"/>
                  </a:lnTo>
                  <a:lnTo>
                    <a:pt x="54279" y="1396734"/>
                  </a:lnTo>
                  <a:lnTo>
                    <a:pt x="70383" y="1444726"/>
                  </a:lnTo>
                  <a:lnTo>
                    <a:pt x="88430" y="1491792"/>
                  </a:lnTo>
                  <a:lnTo>
                    <a:pt x="108372" y="1537884"/>
                  </a:lnTo>
                  <a:lnTo>
                    <a:pt x="130162" y="1582953"/>
                  </a:lnTo>
                  <a:lnTo>
                    <a:pt x="940117" y="1582953"/>
                  </a:lnTo>
                  <a:lnTo>
                    <a:pt x="897835" y="1560427"/>
                  </a:lnTo>
                  <a:lnTo>
                    <a:pt x="857638" y="1534726"/>
                  </a:lnTo>
                  <a:lnTo>
                    <a:pt x="819693" y="1506016"/>
                  </a:lnTo>
                  <a:lnTo>
                    <a:pt x="784167" y="1474464"/>
                  </a:lnTo>
                  <a:lnTo>
                    <a:pt x="751229" y="1440240"/>
                  </a:lnTo>
                  <a:lnTo>
                    <a:pt x="721046" y="1403511"/>
                  </a:lnTo>
                  <a:lnTo>
                    <a:pt x="693786" y="1364443"/>
                  </a:lnTo>
                  <a:lnTo>
                    <a:pt x="669617" y="1323205"/>
                  </a:lnTo>
                  <a:lnTo>
                    <a:pt x="648706" y="1279965"/>
                  </a:lnTo>
                  <a:lnTo>
                    <a:pt x="631220" y="1234890"/>
                  </a:lnTo>
                  <a:lnTo>
                    <a:pt x="617329" y="1188148"/>
                  </a:lnTo>
                  <a:lnTo>
                    <a:pt x="607199" y="1139907"/>
                  </a:lnTo>
                  <a:lnTo>
                    <a:pt x="600998" y="1090333"/>
                  </a:lnTo>
                  <a:lnTo>
                    <a:pt x="598893" y="1039596"/>
                  </a:lnTo>
                  <a:lnTo>
                    <a:pt x="598893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/>
          </p:txBody>
        </p:sp>
      </p:grpSp>
      <p:cxnSp>
        <p:nvCxnSpPr>
          <p:cNvPr id="30" name="直接连接符 29"/>
          <p:cNvCxnSpPr/>
          <p:nvPr/>
        </p:nvCxnSpPr>
        <p:spPr>
          <a:xfrm flipH="1">
            <a:off x="7734748" y="2254373"/>
            <a:ext cx="138422" cy="2205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6593457" y="4791559"/>
            <a:ext cx="375608" cy="3771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2"/>
          <p:cNvSpPr>
            <a:spLocks noChangeArrowheads="1"/>
          </p:cNvSpPr>
          <p:nvPr/>
        </p:nvSpPr>
        <p:spPr bwMode="auto">
          <a:xfrm>
            <a:off x="580913" y="1124572"/>
            <a:ext cx="73851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 represents a typical focused corporate strategy. Instead of jumping into unrelated industries, it grew by building a portfolio of brands with different price points and brand positioning, all within the cosmetics sector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3"/>
          <p:cNvSpPr>
            <a:spLocks noChangeArrowheads="1"/>
          </p:cNvSpPr>
          <p:nvPr/>
        </p:nvSpPr>
        <p:spPr bwMode="auto">
          <a:xfrm>
            <a:off x="699440" y="2678232"/>
            <a:ext cx="3822355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3200" b="0" i="1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Natura:</a:t>
            </a: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Premium direct-sales brand in Latin America.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8973570" y="1124572"/>
            <a:ext cx="2601689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3200" b="0" i="1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Aēsop:</a:t>
            </a: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Non-conformist prestige positioning for higher-income consumers.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5"/>
          <p:cNvSpPr>
            <a:spLocks noChangeArrowheads="1"/>
          </p:cNvSpPr>
          <p:nvPr/>
        </p:nvSpPr>
        <p:spPr bwMode="auto">
          <a:xfrm>
            <a:off x="1446902" y="4599284"/>
            <a:ext cx="3894270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3200" b="0" i="1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The Body Shop:</a:t>
            </a: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High-street retail brand emphasizing cruelty-free and fair-trade principles.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Rectangle 6"/>
          <p:cNvSpPr>
            <a:spLocks noChangeArrowheads="1"/>
          </p:cNvSpPr>
          <p:nvPr/>
        </p:nvSpPr>
        <p:spPr bwMode="auto">
          <a:xfrm>
            <a:off x="9103839" y="3945173"/>
            <a:ext cx="2163493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3200" b="0" i="1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Avon:</a:t>
            </a: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Mass-market direct-sales brand targeting the lower-middle class.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234950" y="853440"/>
          <a:ext cx="11721465" cy="5257165"/>
        </p:xfrm>
        <a:graphic>
          <a:graphicData uri="http://schemas.openxmlformats.org/drawingml/2006/table">
            <a:tbl>
              <a:tblPr firstRow="1" firstCol="1">
                <a:tableStyleId>{1630EA2F-2BDA-42FF-A170-6A89F8E5A7CD}</a:tableStyleId>
              </a:tblPr>
              <a:tblGrid>
                <a:gridCol w="2112645"/>
                <a:gridCol w="2348865"/>
                <a:gridCol w="3422650"/>
                <a:gridCol w="3837305"/>
              </a:tblGrid>
              <a:tr h="530225"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  <a:buNone/>
                      </a:pPr>
                      <a:r>
                        <a:rPr lang="en-US" altLang="zh-CN"/>
                        <a:t>Company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  <a:buNone/>
                      </a:pPr>
                      <a:r>
                        <a:rPr lang="en-US" altLang="zh-CN"/>
                        <a:t>Why?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  <a:buNone/>
                      </a:pPr>
                      <a:r>
                        <a:rPr lang="en-US" altLang="zh-CN"/>
                        <a:t>Advantages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  <a:buNone/>
                      </a:pPr>
                      <a:r>
                        <a:rPr lang="en-US" altLang="zh-CN"/>
                        <a:t>Disadvantages/Risks</a:t>
                      </a:r>
                      <a:endParaRPr lang="en-US" altLang="zh-CN"/>
                    </a:p>
                  </a:txBody>
                  <a:tcPr/>
                </a:tc>
              </a:tr>
              <a:tr h="13716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US" altLang="zh-CN" sz="1800"/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/>
                        <a:t>A</a:t>
                      </a:r>
                      <a:r>
                        <a:rPr lang="en-US" altLang="en-US" sz="1800"/>
                        <a:t>ē</a:t>
                      </a:r>
                      <a:r>
                        <a:rPr lang="en-US" altLang="zh-CN" sz="1800"/>
                        <a:t>sop</a:t>
                      </a:r>
                      <a:endParaRPr lang="en-US" altLang="zh-CN" sz="1800"/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 b="0"/>
                        <a:t>(Controlling stake in 2013, Full acquisition in 2016)</a:t>
                      </a:r>
                      <a:endParaRPr lang="en-US" altLang="zh-CN" sz="1400" b="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/>
                        <a:t>To break out of the Latin American market and pursue internationalization. Both brands shared similar values (e.g., using botanical ingredients, no animal testing).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/>
                        <a:t>A</a:t>
                      </a:r>
                      <a:r>
                        <a:rPr lang="en-US" altLang="en-US" sz="1200"/>
                        <a:t>ē</a:t>
                      </a:r>
                      <a:r>
                        <a:rPr lang="en-US" altLang="zh-CN" sz="1200"/>
                        <a:t>sop was the fastest-growing and most profitable business unit (8.8% EBITDA margin). It provided Natura with highly successful physical retail expertise (A</a:t>
                      </a:r>
                      <a:r>
                        <a:rPr lang="en-US" altLang="en-US" sz="1200"/>
                        <a:t>ē</a:t>
                      </a:r>
                      <a:r>
                        <a:rPr lang="en-US" altLang="zh-CN" sz="1200"/>
                        <a:t>sop helped formulate Natura's retail channel strategy) and expanded market share across the Americas, Europe, and Asia Pacific.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Integration difficulties. The inability to achieve structural cost synergies early on, as A</a:t>
                      </a:r>
                      <a:r>
                        <a:rPr lang="en-US" altLang="en-US" sz="1200">
                          <a:sym typeface="+mn-ea"/>
                        </a:rPr>
                        <a:t>ē</a:t>
                      </a:r>
                      <a:r>
                        <a:rPr lang="en-US" altLang="zh-CN" sz="1200">
                          <a:sym typeface="+mn-ea"/>
                        </a:rPr>
                        <a:t>sop needed to retain its independent operating structure and management team to preserve its unique "non-conformist" prestige brand identity.</a:t>
                      </a:r>
                      <a:endParaRPr lang="en-US" altLang="zh-CN" sz="1200"/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en-US" altLang="zh-CN" sz="1200"/>
                    </a:p>
                  </a:txBody>
                  <a:tcPr/>
                </a:tc>
              </a:tr>
              <a:tr h="173736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US" altLang="zh-CN" sz="1800"/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/>
                        <a:t>The Body Shop</a:t>
                      </a:r>
                      <a:r>
                        <a:rPr lang="en-US" altLang="zh-CN" sz="1800" b="0"/>
                        <a:t> </a:t>
                      </a:r>
                      <a:r>
                        <a:rPr lang="en-US" altLang="zh-CN" sz="1400" b="0"/>
                        <a:t>($1.1 billion acquisition in 2017)</a:t>
                      </a:r>
                      <a:endParaRPr lang="en-US" altLang="zh-CN" sz="1400" b="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200" b="0"/>
                        <a:t>To underscore its evolution into a multinational, multi-brand, and multi-channel group. There was a deep historical connection and value alignment (Natura's founders were inspired by TBS founder Anita Roddick in 2003; both emphasized environmental responsibility).</a:t>
                      </a:r>
                      <a:endParaRPr lang="en-US" altLang="zh-CN" sz="1200" b="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200"/>
                        <a:t> Natura instantly acquired a massive global retail network (3,000 stores in 69 countries), significantly boosting the group's global exposure.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200"/>
                        <a:t>   </a:t>
                      </a:r>
                      <a:r>
                        <a:rPr lang="en-US" altLang="en-US" sz="1200"/>
                        <a:t>◦</a:t>
                      </a:r>
                      <a:r>
                        <a:rPr lang="en-US" altLang="zh-CN" sz="1200"/>
                        <a:t> Extraordinary debt: The deal was entirely financed through loans, causing Natura's debt-to-EBITDA ratio to surge from 1.4x to 3.6x.</a:t>
                      </a:r>
                      <a:endParaRPr lang="en-US" altLang="zh-CN" sz="1200"/>
                    </a:p>
                    <a:p>
                      <a:pPr algn="l">
                        <a:buNone/>
                      </a:pPr>
                      <a:r>
                        <a:rPr lang="en-US" altLang="zh-CN" sz="1200"/>
                        <a:t>    </a:t>
                      </a:r>
                      <a:r>
                        <a:rPr lang="en-US" altLang="en-US" sz="1200"/>
                        <a:t>◦</a:t>
                      </a:r>
                      <a:r>
                        <a:rPr lang="en-US" altLang="zh-CN" sz="1200"/>
                        <a:t> Organisational turnaround pressure: Since TBS failed to thrive under L'Or</a:t>
                      </a:r>
                      <a:r>
                        <a:rPr lang="en-US" altLang="en-US" sz="1200"/>
                        <a:t>é</a:t>
                      </a:r>
                      <a:r>
                        <a:rPr lang="en-US" altLang="zh-CN" sz="1200"/>
                        <a:t>al, Natura had to shoulder massive operational turnaround pressure to meet its target of doubling TBS's EBITDA.</a:t>
                      </a:r>
                      <a:endParaRPr lang="en-US" altLang="zh-CN" sz="1200"/>
                    </a:p>
                  </a:txBody>
                  <a:tcPr/>
                </a:tc>
              </a:tr>
              <a:tr h="16179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US" altLang="zh-CN" sz="1800"/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/>
                        <a:t>Avon </a:t>
                      </a:r>
                      <a:endParaRPr lang="en-US" altLang="zh-CN" sz="1800"/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 b="0"/>
                        <a:t>(All-share takeover in 2019)</a:t>
                      </a:r>
                      <a:endParaRPr lang="en-US" altLang="zh-CN" sz="1200" b="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200"/>
                        <a:t>To accelerate the company's global ambitions, align Avon with Natura's sustainability ethos to attract younger eco-conscious consumers, and gain access to 27 new markets (including China).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Massive economies of scale. The merger created the world's 4th largest pure-play beauty group with $9 billion in combined revenues and a direct-sales network of 6 million people.</a:t>
                      </a:r>
                      <a:endParaRPr lang="en-US" altLang="zh-CN" sz="1200"/>
                    </a:p>
                    <a:p>
                      <a:pPr algn="l">
                        <a:buNone/>
                      </a:pP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  </a:t>
                      </a:r>
                      <a:r>
                        <a:rPr lang="en-US" altLang="en-US" sz="1200">
                          <a:sym typeface="+mn-ea"/>
                        </a:rPr>
                        <a:t>◦</a:t>
                      </a:r>
                      <a:r>
                        <a:rPr lang="en-US" altLang="zh-CN" sz="1200">
                          <a:sym typeface="+mn-ea"/>
                        </a:rPr>
                        <a:t> Extraordinary debt: Natura absorbed Avon's $1.7 billion debt, pushing the group's debt-to-EBITDA ratio to an alarming 6.2x.</a:t>
                      </a:r>
                      <a:endParaRPr lang="en-US" altLang="zh-CN" sz="1200"/>
                    </a:p>
                    <a:p>
                      <a:pPr algn="l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  </a:t>
                      </a:r>
                      <a:r>
                        <a:rPr lang="en-US" altLang="en-US" sz="1200">
                          <a:sym typeface="+mn-ea"/>
                        </a:rPr>
                        <a:t>◦</a:t>
                      </a:r>
                      <a:r>
                        <a:rPr lang="en-US" altLang="zh-CN" sz="1200">
                          <a:sym typeface="+mn-ea"/>
                        </a:rPr>
                        <a:t> Integration difficulties &amp; Cultural clash: Avon did not traditionally target eco-conscious consumers. Aligning Avon's value proposition with Natura's sustainable ethos presents a massive challenge.</a:t>
                      </a:r>
                      <a:endParaRPr lang="zh-CN" altLang="en-US" sz="1200"/>
                    </a:p>
                    <a:p>
                      <a:pPr algn="l"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46698" y="290576"/>
            <a:ext cx="5465062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Modes of Development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02630" y="39846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400" b="1">
                <a:highlight>
                  <a:srgbClr val="FFFF00"/>
                </a:highlight>
              </a:rPr>
              <a:t>Internal Development</a:t>
            </a:r>
            <a:r>
              <a:rPr lang="en-US" altLang="zh-CN" sz="1600" b="1">
                <a:highlight>
                  <a:srgbClr val="FFFF00"/>
                </a:highlight>
              </a:rPr>
              <a:t>                       </a:t>
            </a:r>
            <a:r>
              <a:rPr lang="en-US" altLang="zh-CN" b="1">
                <a:highlight>
                  <a:srgbClr val="00FF00"/>
                </a:highlight>
              </a:rPr>
              <a:t>Acquisitions</a:t>
            </a:r>
            <a:r>
              <a:rPr lang="en-US" altLang="zh-CN">
                <a:highlight>
                  <a:srgbClr val="00FF00"/>
                </a:highlight>
              </a:rPr>
              <a:t>.</a:t>
            </a:r>
            <a:endParaRPr lang="en-US" altLang="zh-CN">
              <a:highlight>
                <a:srgbClr val="00FF00"/>
              </a:highlight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7753985" y="582930"/>
            <a:ext cx="1177290" cy="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96460d0fab8b5733b86a27f65049371"/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541520" y="3237865"/>
            <a:ext cx="3108325" cy="2714625"/>
          </a:xfrm>
          <a:prstGeom prst="rect">
            <a:avLst/>
          </a:prstGeom>
          <a:effectLst>
            <a:glow rad="25400">
              <a:schemeClr val="bg1">
                <a:lumMod val="95000"/>
                <a:alpha val="40000"/>
              </a:schemeClr>
            </a:glow>
            <a:reflection blurRad="6350" stA="52000" endA="300" endPos="8000" dir="5400000" sy="-100000" algn="bl" rotWithShape="0"/>
            <a:softEdge rad="63500"/>
          </a:effectLst>
        </p:spPr>
      </p:pic>
      <p:pic>
        <p:nvPicPr>
          <p:cNvPr id="9" name="图片 8" descr="a58542c60e1159d947f48e87c149d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640" y="1193800"/>
            <a:ext cx="1631950" cy="2448560"/>
          </a:xfrm>
          <a:prstGeom prst="rect">
            <a:avLst/>
          </a:prstGeom>
          <a:effectLst>
            <a:glow rad="25400">
              <a:schemeClr val="bg1">
                <a:lumMod val="95000"/>
                <a:alpha val="40000"/>
              </a:schemeClr>
            </a:glow>
            <a:reflection blurRad="6350" stA="52000" endA="300" endPos="8000" dir="5400000" sy="-100000" algn="bl" rotWithShape="0"/>
            <a:softEdge rad="63500"/>
          </a:effectLst>
        </p:spPr>
      </p:pic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3363595" y="2214245"/>
            <a:ext cx="5464810" cy="1106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6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THANK YOU!</a:t>
            </a:r>
            <a:endParaRPr kumimoji="0" lang="en-US" altLang="zh-CN" sz="66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图片 11" descr="63b09d8f1f30bae642bc9637c96f5a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565" y="300355"/>
            <a:ext cx="2476500" cy="1857375"/>
          </a:xfrm>
          <a:prstGeom prst="rect">
            <a:avLst/>
          </a:prstGeom>
          <a:effectLst>
            <a:glow rad="25400">
              <a:schemeClr val="bg1">
                <a:lumMod val="95000"/>
                <a:alpha val="40000"/>
              </a:schemeClr>
            </a:glow>
            <a:reflection blurRad="6350" stA="52000" endA="300" endPos="8000" dir="5400000" sy="-100000" algn="bl" rotWithShape="0"/>
            <a:softEdge rad="63500"/>
          </a:effectLst>
        </p:spPr>
      </p:pic>
      <p:pic>
        <p:nvPicPr>
          <p:cNvPr id="13" name="图片 12" descr="cf192a13498e808f9a1c7f3f0e5fec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9845" y="2157730"/>
            <a:ext cx="1831340" cy="2748280"/>
          </a:xfrm>
          <a:prstGeom prst="rect">
            <a:avLst/>
          </a:prstGeom>
          <a:effectLst>
            <a:glow rad="25400">
              <a:schemeClr val="bg1">
                <a:lumMod val="95000"/>
                <a:alpha val="40000"/>
              </a:schemeClr>
            </a:glow>
            <a:reflection blurRad="6350" stA="52000" endA="300" endPos="8000" dir="5400000" sy="-100000" algn="bl" rotWithShape="0"/>
            <a:softEdge rad="63500"/>
          </a:effec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DOCER_RESOURCE_TRACE_INFO" val="{&quot;id&quot;:&quot;&quot;,&quot;origin&quot;:0,&quot;type&quot;:&quot;icons&quot;,&quot;user&quot;:&quot;1259751812&quot;}"/>
</p:tagLst>
</file>

<file path=ppt/tags/tag64.xml><?xml version="1.0" encoding="utf-8"?>
<p:tagLst xmlns:p="http://schemas.openxmlformats.org/presentationml/2006/main">
  <p:tag name="KSO_DOCER_RESOURCE_TRACE_INFO" val="{&quot;id&quot;:&quot;&quot;,&quot;origin&quot;:0,&quot;type&quot;:&quot;icons&quot;,&quot;user&quot;:&quot;1259751812&quot;}"/>
</p:tagLst>
</file>

<file path=ppt/tags/tag65.xml><?xml version="1.0" encoding="utf-8"?>
<p:tagLst xmlns:p="http://schemas.openxmlformats.org/presentationml/2006/main">
  <p:tag name="KSO_DOCER_RESOURCE_TRACE_INFO" val="{&quot;id&quot;:&quot;&quot;,&quot;origin&quot;:0,&quot;type&quot;:&quot;icons&quot;,&quot;user&quot;:&quot;1259751812&quot;}"/>
</p:tagLst>
</file>

<file path=ppt/tags/tag66.xml><?xml version="1.0" encoding="utf-8"?>
<p:tagLst xmlns:p="http://schemas.openxmlformats.org/presentationml/2006/main">
  <p:tag name="KSO_DOCER_RESOURCE_TRACE_INFO" val="{&quot;id&quot;:&quot;&quot;,&quot;origin&quot;:0,&quot;type&quot;:&quot;icons&quot;,&quot;user&quot;:&quot;1259751812&quot;}"/>
</p:tagLst>
</file>

<file path=ppt/tags/tag67.xml><?xml version="1.0" encoding="utf-8"?>
<p:tagLst xmlns:p="http://schemas.openxmlformats.org/presentationml/2006/main">
  <p:tag name="KSO_DOCER_RESOURCE_TRACE_INFO" val="{&quot;id&quot;:&quot;&quot;,&quot;origin&quot;:0,&quot;type&quot;:&quot;icons&quot;,&quot;user&quot;:&quot;1259751812&quot;}"/>
</p:tagLst>
</file>

<file path=ppt/tags/tag68.xml><?xml version="1.0" encoding="utf-8"?>
<p:tagLst xmlns:p="http://schemas.openxmlformats.org/presentationml/2006/main">
  <p:tag name="TABLE_ENDDRAG_ORIGIN_RECT" val="922*347"/>
  <p:tag name="TABLE_ENDDRAG_RECT" val="25*23*922*348"/>
</p:tagLst>
</file>

<file path=ppt/tags/tag69.xml><?xml version="1.0" encoding="utf-8"?>
<p:tagLst xmlns:p="http://schemas.openxmlformats.org/presentationml/2006/main">
  <p:tag name="OPCH-2C15B0951C093A05C15EB5B96157B75357A5099DA545071BA84DD9C4A5129A72" val="[{&quot;GradientColorId&quot;:&quot;&quot;,&quot;IsFree&quot;:true,&quot;IsGradient&quot;:false,&quot;ImagePath&quot;:&quot;&quot;,&quot;GradientColor&quot;:null,&quot;SimpleColor&quot;:&quot;#B6C7EA&quot;},{&quot;GradientColorId&quot;:&quot;&quot;,&quot;IsFree&quot;:true,&quot;IsGradient&quot;:false,&quot;ImagePath&quot;:&quot;&quot;,&quot;GradientColor&quot;:null,&quot;SimpleColor&quot;:&quot;#91ACE0&quot;}]"/>
  <p:tag name="resource_record_key" val="{&quot;29&quot;:[50053049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5156</Words>
  <Application>WPS 演示</Application>
  <PresentationFormat>宽屏</PresentationFormat>
  <Paragraphs>108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Century Gothic</vt:lpstr>
      <vt:lpstr>Arial Narrow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恩琦</dc:creator>
  <cp:lastModifiedBy>椰子冻</cp:lastModifiedBy>
  <cp:revision>164</cp:revision>
  <dcterms:created xsi:type="dcterms:W3CDTF">2019-06-19T02:08:00Z</dcterms:created>
  <dcterms:modified xsi:type="dcterms:W3CDTF">2026-03-24T07:19:04Z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1D11AFC9CCE3488380F2D2122EF25563_13</vt:lpwstr>
  </property>
</Properties>
</file>